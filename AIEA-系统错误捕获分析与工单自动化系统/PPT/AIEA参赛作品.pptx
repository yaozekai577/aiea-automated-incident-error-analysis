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69" r:id="rId19"/>
    <p:sldId id="273" r:id="rId20"/>
    <p:sldId id="272" r:id="rId21"/>
    <p:sldId id="270" r:id="rId22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7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280160"/>
            <a:ext cx="3657600" cy="365760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822960" y="484632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60120" y="137160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>
                    <a:alpha val="9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驱动的异常全生命周期管理平台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10058400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</a:t>
            </a:r>
            <a:endParaRPr lang="en-US" sz="8300" dirty="0"/>
          </a:p>
        </p:txBody>
      </p:sp>
      <p:sp>
        <p:nvSpPr>
          <p:cNvPr id="6" name="Text 4"/>
          <p:cNvSpPr/>
          <p:nvPr/>
        </p:nvSpPr>
        <p:spPr>
          <a:xfrm>
            <a:off x="960120" y="3703320"/>
            <a:ext cx="10058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错误根因分析与工单自动化平台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987552" y="4343400"/>
            <a:ext cx="1143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93776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参赛人：研发一部 · 姚泽楷</a:t>
            </a: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685800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3" name="Shape 1"/>
          <p:cNvSpPr/>
          <p:nvPr/>
        </p:nvSpPr>
        <p:spPr>
          <a:xfrm>
            <a:off x="2194560" y="512064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420624" y="2103120"/>
            <a:ext cx="2743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438912" y="3063240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8912" y="3611880"/>
            <a:ext cx="612648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7" name="Text 5"/>
          <p:cNvSpPr/>
          <p:nvPr/>
        </p:nvSpPr>
        <p:spPr>
          <a:xfrm>
            <a:off x="438912" y="4206240"/>
            <a:ext cx="26060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从痛点到方案，从架构到落地，全景呈现 AIEA 的设计与实现。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800600" y="1417320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项目背景与痛点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异常处理现状与五大核心痛点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023360" y="2167128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2258568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4800600" y="2258568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产品方案与系统架构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端到端流水线 · 整体架构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023360" y="3008376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099816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4800600" y="3099816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核心功能模块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八大功能模块一览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023360" y="3849624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941064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4800600" y="3941064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关键技术亮点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 · 流水线 · 路由 · 零侵入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023360" y="4690872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4782312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800600" y="4782312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大模型与 7×24 Agent 落地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如何构建 AI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023360" y="5532120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5623560"/>
            <a:ext cx="685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4800600" y="5623560"/>
            <a:ext cx="6766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演示与总结</a:t>
            </a:r>
            <a:endParaRPr lang="en-US" sz="17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运行截图 · 价值总结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023360" y="6373368"/>
            <a:ext cx="75438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498080" y="548640"/>
            <a:ext cx="438912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kern="0" spc="4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项目背景与痛点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987552" y="3794760"/>
            <a:ext cx="105156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114800"/>
            <a:ext cx="9601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微服务时代，异常处理仍停留在“人工翻日志—群里同步—手填工单”的低效模式。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498080" y="548640"/>
            <a:ext cx="438912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kern="0" spc="4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产品方案与系统架构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987552" y="3794760"/>
            <a:ext cx="105156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114800"/>
            <a:ext cx="9601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把“异常捕获 → 智能去重 → AI 根因分析 → 群聊通知 → 工单闭环”全自动化的端到端工具链。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498080" y="548640"/>
            <a:ext cx="438912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kern="0" spc="4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03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核心功能模块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987552" y="3794760"/>
            <a:ext cx="105156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114800"/>
            <a:ext cx="9601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八大模块覆盖“捕获—去重—分析—通知—工单—配置”的完整异常治理闭环。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280160"/>
            <a:ext cx="3291840" cy="329184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601200" y="4572000"/>
            <a:ext cx="3108960" cy="310896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7498080" y="548640"/>
            <a:ext cx="4389120" cy="4572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22000" b="1" dirty="0">
                <a:solidFill>
                  <a:srgbClr val="FFFFFF">
                    <a:alpha val="1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7315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kern="0" spc="400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CHAPTER 04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100584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关键技术亮点</a:t>
            </a:r>
            <a:endParaRPr lang="en-US" sz="5000" dirty="0"/>
          </a:p>
        </p:txBody>
      </p:sp>
      <p:sp>
        <p:nvSpPr>
          <p:cNvPr id="7" name="Shape 5"/>
          <p:cNvSpPr/>
          <p:nvPr/>
        </p:nvSpPr>
        <p:spPr>
          <a:xfrm>
            <a:off x="987552" y="3794760"/>
            <a:ext cx="105156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114800"/>
            <a:ext cx="96012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500" dirty="0">
                <a:solidFill>
                  <a:srgbClr val="FFFFFF">
                    <a:alpha val="82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六个工程化创新点，构成 AIEA 区别于通用告警工具的核心壁垒。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背景与核心痛点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传统异常处理链路的五大结构性问题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" y="1645920"/>
            <a:ext cx="3520440" cy="39776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5" name="Text 3"/>
          <p:cNvSpPr/>
          <p:nvPr/>
        </p:nvSpPr>
        <p:spPr>
          <a:xfrm>
            <a:off x="868680" y="1920240"/>
            <a:ext cx="2926080" cy="3383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流程长</a:t>
            </a:r>
            <a:endParaRPr lang="en-US" sz="2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重复多</a:t>
            </a:r>
            <a:endParaRPr lang="en-US" sz="2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23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缺沉淀</a:t>
            </a:r>
            <a:endParaRPr lang="en-US" sz="2300" dirty="0"/>
          </a:p>
          <a:p>
            <a:pPr marL="0" indent="0">
              <a:lnSpc>
                <a:spcPct val="135000"/>
              </a:lnSpc>
              <a:buNone/>
            </a:pPr>
            <a:endParaRPr lang="en-US" sz="23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从异常发生到人员感知，平均延迟可达数十分钟甚至数小时。</a:t>
            </a:r>
            <a:endParaRPr lang="en-US" sz="2300" dirty="0"/>
          </a:p>
        </p:txBody>
      </p:sp>
      <p:sp>
        <p:nvSpPr>
          <p:cNvPr id="6" name="Shape 4"/>
          <p:cNvSpPr/>
          <p:nvPr>
            <p:custDataLst>
              <p:tags r:id="rId1"/>
            </p:custDataLst>
          </p:nvPr>
        </p:nvSpPr>
        <p:spPr>
          <a:xfrm>
            <a:off x="4434840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7" name="Text 5"/>
          <p:cNvSpPr/>
          <p:nvPr>
            <p:custDataLst>
              <p:tags r:id="rId2"/>
            </p:custDataLst>
          </p:nvPr>
        </p:nvSpPr>
        <p:spPr>
          <a:xfrm>
            <a:off x="4892040" y="1783080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① 异常发现滞后</a:t>
            </a:r>
            <a:endParaRPr lang="en-US" sz="1700" dirty="0"/>
          </a:p>
        </p:txBody>
      </p:sp>
      <p:sp>
        <p:nvSpPr>
          <p:cNvPr id="8" name="Text 6"/>
          <p:cNvSpPr/>
          <p:nvPr>
            <p:custDataLst>
              <p:tags r:id="rId3"/>
            </p:custDataLst>
          </p:nvPr>
        </p:nvSpPr>
        <p:spPr>
          <a:xfrm>
            <a:off x="4892040" y="2167128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依赖人工巡检日志，微服务跨节点排查耗时巨大。</a:t>
            </a:r>
            <a:endParaRPr lang="en-US" sz="1200" dirty="0"/>
          </a:p>
        </p:txBody>
      </p:sp>
      <p:sp>
        <p:nvSpPr>
          <p:cNvPr id="9" name="Shape 7"/>
          <p:cNvSpPr/>
          <p:nvPr>
            <p:custDataLst>
              <p:tags r:id="rId4"/>
            </p:custDataLst>
          </p:nvPr>
        </p:nvSpPr>
        <p:spPr>
          <a:xfrm>
            <a:off x="4434840" y="2615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0" name="Text 8"/>
          <p:cNvSpPr/>
          <p:nvPr>
            <p:custDataLst>
              <p:tags r:id="rId5"/>
            </p:custDataLst>
          </p:nvPr>
        </p:nvSpPr>
        <p:spPr>
          <a:xfrm>
            <a:off x="4892040" y="2569464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② 同类错误反复</a:t>
            </a:r>
            <a:endParaRPr lang="en-US" sz="1700" dirty="0"/>
          </a:p>
        </p:txBody>
      </p:sp>
      <p:sp>
        <p:nvSpPr>
          <p:cNvPr id="11" name="Text 9"/>
          <p:cNvSpPr/>
          <p:nvPr>
            <p:custDataLst>
              <p:tags r:id="rId6"/>
            </p:custDataLst>
          </p:nvPr>
        </p:nvSpPr>
        <p:spPr>
          <a:xfrm>
            <a:off x="4892040" y="2953512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缺少指纹归集，历史排查经验无法复用。</a:t>
            </a:r>
            <a:endParaRPr lang="en-US" sz="1200" dirty="0"/>
          </a:p>
        </p:txBody>
      </p:sp>
      <p:sp>
        <p:nvSpPr>
          <p:cNvPr id="12" name="Shape 10"/>
          <p:cNvSpPr/>
          <p:nvPr>
            <p:custDataLst>
              <p:tags r:id="rId7"/>
            </p:custDataLst>
          </p:nvPr>
        </p:nvSpPr>
        <p:spPr>
          <a:xfrm>
            <a:off x="4434840" y="340156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3" name="Text 11"/>
          <p:cNvSpPr/>
          <p:nvPr>
            <p:custDataLst>
              <p:tags r:id="rId8"/>
            </p:custDataLst>
          </p:nvPr>
        </p:nvSpPr>
        <p:spPr>
          <a:xfrm>
            <a:off x="4892040" y="3355848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③ 群聊通知碎片化</a:t>
            </a:r>
            <a:endParaRPr lang="en-US" sz="1700" dirty="0"/>
          </a:p>
        </p:txBody>
      </p:sp>
      <p:sp>
        <p:nvSpPr>
          <p:cNvPr id="14" name="Text 12"/>
          <p:cNvSpPr/>
          <p:nvPr>
            <p:custDataLst>
              <p:tags r:id="rId9"/>
            </p:custDataLst>
          </p:nvPr>
        </p:nvSpPr>
        <p:spPr>
          <a:xfrm>
            <a:off x="4892040" y="3739896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缺环境/服务/版本上下文，重要告警被淹没。</a:t>
            </a:r>
            <a:endParaRPr lang="en-US" sz="1200" dirty="0"/>
          </a:p>
        </p:txBody>
      </p:sp>
      <p:sp>
        <p:nvSpPr>
          <p:cNvPr id="15" name="Shape 13"/>
          <p:cNvSpPr/>
          <p:nvPr>
            <p:custDataLst>
              <p:tags r:id="rId10"/>
            </p:custDataLst>
          </p:nvPr>
        </p:nvSpPr>
        <p:spPr>
          <a:xfrm>
            <a:off x="4434840" y="418795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6" name="Text 14"/>
          <p:cNvSpPr/>
          <p:nvPr>
            <p:custDataLst>
              <p:tags r:id="rId11"/>
            </p:custDataLst>
          </p:nvPr>
        </p:nvSpPr>
        <p:spPr>
          <a:xfrm>
            <a:off x="4892040" y="4142232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④ 工单手工创建</a:t>
            </a:r>
            <a:endParaRPr lang="en-US" sz="1700" dirty="0"/>
          </a:p>
        </p:txBody>
      </p:sp>
      <p:sp>
        <p:nvSpPr>
          <p:cNvPr id="17" name="Text 15"/>
          <p:cNvSpPr/>
          <p:nvPr>
            <p:custDataLst>
              <p:tags r:id="rId12"/>
            </p:custDataLst>
          </p:nvPr>
        </p:nvSpPr>
        <p:spPr>
          <a:xfrm>
            <a:off x="4892040" y="4526280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复制堆栈、填描述、指派处理人，流程割裂。</a:t>
            </a:r>
            <a:endParaRPr lang="en-US" sz="1200" dirty="0"/>
          </a:p>
        </p:txBody>
      </p:sp>
      <p:sp>
        <p:nvSpPr>
          <p:cNvPr id="18" name="Shape 16"/>
          <p:cNvSpPr/>
          <p:nvPr>
            <p:custDataLst>
              <p:tags r:id="rId13"/>
            </p:custDataLst>
          </p:nvPr>
        </p:nvSpPr>
        <p:spPr>
          <a:xfrm>
            <a:off x="4434840" y="497433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9" name="Text 17"/>
          <p:cNvSpPr/>
          <p:nvPr>
            <p:custDataLst>
              <p:tags r:id="rId14"/>
            </p:custDataLst>
          </p:nvPr>
        </p:nvSpPr>
        <p:spPr>
          <a:xfrm>
            <a:off x="4892040" y="4928616"/>
            <a:ext cx="66751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⑤ 根因依赖经验</a:t>
            </a:r>
            <a:endParaRPr lang="en-US" sz="1700" dirty="0"/>
          </a:p>
        </p:txBody>
      </p:sp>
      <p:sp>
        <p:nvSpPr>
          <p:cNvPr id="20" name="Text 18"/>
          <p:cNvSpPr/>
          <p:nvPr>
            <p:custDataLst>
              <p:tags r:id="rId15"/>
            </p:custDataLst>
          </p:nvPr>
        </p:nvSpPr>
        <p:spPr>
          <a:xfrm>
            <a:off x="4892040" y="5312664"/>
            <a:ext cx="67665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定位根因靠资深开发者，新人上手慢。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目标用户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面向中大型研发团队的全角色覆盖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76072" y="1691640"/>
          <a:ext cx="11036808" cy="3355848"/>
        </p:xfrm>
        <a:graphic>
          <a:graphicData uri="http://schemas.openxmlformats.org/drawingml/2006/table">
            <a:tbl>
              <a:tblPr/>
              <a:tblGrid>
                <a:gridCol w="3291840"/>
                <a:gridCol w="7744968"/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角色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使用场景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ED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后端 / 全栈工程师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异常自动上报，无需手工粘贴堆栈；直接在工单中看到 AI 根因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技术负责人 / Tech Lead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通过仪表盘掌握全团队异常态势，按服务 / 环境维度治理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SRE / 运维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配置通知路由，把不同服务告警精准推送到对应飞书 / 钉钉群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测试 / 产品 / 值班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在群聊中第一时间收到带根因的告警卡片，快速感知风险</a:t>
                      </a:r>
                      <a:endParaRPr 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" y="5486400"/>
            <a:ext cx="11036808" cy="566928"/>
          </a:xfrm>
          <a:prstGeom prst="roundRect">
            <a:avLst>
              <a:gd name="adj" fmla="val 12903"/>
            </a:avLst>
          </a:prstGeom>
          <a:solidFill>
            <a:srgbClr val="FEF3E2"/>
          </a:solidFill>
        </p:spPr>
      </p:sp>
      <p:sp>
        <p:nvSpPr>
          <p:cNvPr id="6" name="Text 3"/>
          <p:cNvSpPr/>
          <p:nvPr/>
        </p:nvSpPr>
        <p:spPr>
          <a:xfrm>
            <a:off x="822960" y="5486400"/>
            <a:ext cx="1051560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适用组织：采用微服务 / 多服务架构、使用飞书或钉钉协作、需要工单闭环（内置工单或 Jira）的研发团队。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15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端到端处理流水线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零侵入接入 · 异步编排 · 自动闭环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88920"/>
            <a:ext cx="1554480" cy="1005840"/>
          </a:xfrm>
          <a:prstGeom prst="rect">
            <a:avLst/>
          </a:prstGeom>
          <a:solidFill>
            <a:srgbClr val="1D4ED8"/>
          </a:solidFill>
        </p:spPr>
      </p:sp>
      <p:sp>
        <p:nvSpPr>
          <p:cNvPr id="5" name="Text 3"/>
          <p:cNvSpPr/>
          <p:nvPr/>
        </p:nvSpPr>
        <p:spPr>
          <a:xfrm>
            <a:off x="411480" y="2788920"/>
            <a:ext cx="15544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业务系统</a:t>
            </a:r>
            <a:endParaRPr lang="en-US" sz="1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965960" y="3291840"/>
            <a:ext cx="50292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468880" y="1554480"/>
            <a:ext cx="5897880" cy="3931920"/>
          </a:xfrm>
          <a:prstGeom prst="roundRect">
            <a:avLst>
              <a:gd name="adj" fmla="val 3721"/>
            </a:avLst>
          </a:prstGeom>
          <a:solidFill>
            <a:srgbClr val="F1F5F9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664208"/>
            <a:ext cx="5486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Server · 异步流水线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69748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29000" y="276606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6616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276606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43484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166360" y="276606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30352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276606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17220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建单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766060"/>
            <a:ext cx="13716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40880" y="2331720"/>
            <a:ext cx="731520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331720"/>
            <a:ext cx="73152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697480" y="3383280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接入方式：SDK · Logback Appender · 直接 HTTP（鉴权 + 限流 + 脱敏）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767328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事务提交后触发异步流水线，避免脏读；任一组件故障自动降级兜底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97480" y="4498848"/>
            <a:ext cx="5486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RECEIVED → ANALYZING → TICKETED → NOTIFIED / SUPPRESSED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242316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549640" y="21031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EA5E9"/>
          </a:solidFill>
        </p:spPr>
      </p:sp>
      <p:sp>
        <p:nvSpPr>
          <p:cNvPr id="31" name="Text 29"/>
          <p:cNvSpPr/>
          <p:nvPr/>
        </p:nvSpPr>
        <p:spPr>
          <a:xfrm>
            <a:off x="8549640" y="210312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66760" y="342900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549640" y="310896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EA5E9"/>
          </a:solidFill>
        </p:spPr>
      </p:sp>
      <p:sp>
        <p:nvSpPr>
          <p:cNvPr id="34" name="Text 32"/>
          <p:cNvSpPr/>
          <p:nvPr/>
        </p:nvSpPr>
        <p:spPr>
          <a:xfrm>
            <a:off x="8549640" y="310896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钉钉群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366760" y="443484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549640" y="41148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94A3B8"/>
          </a:solidFill>
        </p:spPr>
      </p:sp>
      <p:sp>
        <p:nvSpPr>
          <p:cNvPr id="37" name="Text 35"/>
          <p:cNvSpPr/>
          <p:nvPr/>
        </p:nvSpPr>
        <p:spPr>
          <a:xfrm>
            <a:off x="8549640" y="4114800"/>
            <a:ext cx="1828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Jira（可选）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15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系统整体架构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Spring Boot 主服务 + 轻量 SDK + React 控制台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81328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D4ED8"/>
          </a:solidFill>
        </p:spPr>
      </p:sp>
      <p:sp>
        <p:nvSpPr>
          <p:cNvPr id="5" name="Text 3"/>
          <p:cNvSpPr/>
          <p:nvPr/>
        </p:nvSpPr>
        <p:spPr>
          <a:xfrm>
            <a:off x="548640" y="1481328"/>
            <a:ext cx="3108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业务 Java 服务 + aiea-sdk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0" y="1481328"/>
            <a:ext cx="3108960" cy="713232"/>
          </a:xfrm>
          <a:prstGeom prst="roundRect">
            <a:avLst>
              <a:gd name="adj" fmla="val 10256"/>
            </a:avLst>
          </a:prstGeom>
          <a:solidFill>
            <a:srgbClr val="1D4ED8"/>
          </a:solidFill>
        </p:spPr>
      </p:sp>
      <p:sp>
        <p:nvSpPr>
          <p:cNvPr id="7" name="Text 5"/>
          <p:cNvSpPr/>
          <p:nvPr/>
        </p:nvSpPr>
        <p:spPr>
          <a:xfrm>
            <a:off x="3840480" y="1481328"/>
            <a:ext cx="310896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本地 / 存量系统 + Logback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2194560"/>
            <a:ext cx="1645920" cy="2926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2194560"/>
            <a:ext cx="1645920" cy="292608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6400800" cy="21945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624328"/>
            <a:ext cx="6035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Server（Spring Boot 3.3）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接入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27632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27632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指纹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05456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05456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去重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流水线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61104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1104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AI分析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138928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通知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16752" y="3200400"/>
            <a:ext cx="768096" cy="10058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3200400"/>
            <a:ext cx="768096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4709160"/>
            <a:ext cx="0" cy="36576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48640" y="5074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EA5E9"/>
          </a:solidFill>
        </p:spPr>
      </p:sp>
      <p:sp>
        <p:nvSpPr>
          <p:cNvPr id="28" name="Text 26"/>
          <p:cNvSpPr/>
          <p:nvPr/>
        </p:nvSpPr>
        <p:spPr>
          <a:xfrm>
            <a:off x="548640" y="5074920"/>
            <a:ext cx="1188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MySQL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5074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EA5E9"/>
          </a:solidFill>
        </p:spPr>
      </p:sp>
      <p:sp>
        <p:nvSpPr>
          <p:cNvPr id="30" name="Text 28"/>
          <p:cNvSpPr/>
          <p:nvPr/>
        </p:nvSpPr>
        <p:spPr>
          <a:xfrm>
            <a:off x="1874520" y="5074920"/>
            <a:ext cx="1188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0" y="5074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EA5E9"/>
          </a:solidFill>
        </p:spPr>
      </p:sp>
      <p:sp>
        <p:nvSpPr>
          <p:cNvPr id="32" name="Text 30"/>
          <p:cNvSpPr/>
          <p:nvPr/>
        </p:nvSpPr>
        <p:spPr>
          <a:xfrm>
            <a:off x="3200400" y="5074920"/>
            <a:ext cx="1188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26280" y="5074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0EA5E9"/>
          </a:solidFill>
        </p:spPr>
      </p:sp>
      <p:sp>
        <p:nvSpPr>
          <p:cNvPr id="34" name="Text 32"/>
          <p:cNvSpPr/>
          <p:nvPr/>
        </p:nvSpPr>
        <p:spPr>
          <a:xfrm>
            <a:off x="4526280" y="5074920"/>
            <a:ext cx="1188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飞书/钉钉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852160" y="5074920"/>
            <a:ext cx="1188720" cy="566928"/>
          </a:xfrm>
          <a:prstGeom prst="roundRect">
            <a:avLst>
              <a:gd name="adj" fmla="val 12903"/>
            </a:avLst>
          </a:prstGeom>
          <a:solidFill>
            <a:srgbClr val="94A3B8"/>
          </a:solidFill>
        </p:spPr>
      </p:sp>
      <p:sp>
        <p:nvSpPr>
          <p:cNvPr id="36" name="Text 34"/>
          <p:cNvSpPr/>
          <p:nvPr/>
        </p:nvSpPr>
        <p:spPr>
          <a:xfrm>
            <a:off x="5852160" y="5074920"/>
            <a:ext cx="1188720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Jira(可选)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0" y="15544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</p:spPr>
      </p:sp>
      <p:sp>
        <p:nvSpPr>
          <p:cNvPr id="38" name="Text 36"/>
          <p:cNvSpPr/>
          <p:nvPr/>
        </p:nvSpPr>
        <p:spPr>
          <a:xfrm>
            <a:off x="7543800" y="1700784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零侵入接入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543800" y="2084832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SDK 与 Logback Appender 两种方式，业务代码改动极小。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0" y="28803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</p:spPr>
      </p:sp>
      <p:sp>
        <p:nvSpPr>
          <p:cNvPr id="41" name="Text 39"/>
          <p:cNvSpPr/>
          <p:nvPr/>
        </p:nvSpPr>
        <p:spPr>
          <a:xfrm>
            <a:off x="7543800" y="3026664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异步解耦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543800" y="3410712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分析、建单、通知在事务提交后异步触发，不阻塞主链路。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315200" y="42062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1F5F9"/>
          </a:solidFill>
        </p:spPr>
      </p:sp>
      <p:sp>
        <p:nvSpPr>
          <p:cNvPr id="44" name="Text 42"/>
          <p:cNvSpPr/>
          <p:nvPr/>
        </p:nvSpPr>
        <p:spPr>
          <a:xfrm>
            <a:off x="7543800" y="4352544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依赖可替换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7543800" y="4736592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大模型、IM、Jira 均按 OpenAI 兼容协议可选接入。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15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核心功能模块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覆盖异常治理全生命周期的八大能力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" y="1691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5" name="Shape 3"/>
          <p:cNvSpPr/>
          <p:nvPr/>
        </p:nvSpPr>
        <p:spPr>
          <a:xfrm>
            <a:off x="740664" y="18928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sp>
        <p:nvSpPr>
          <p:cNvPr id="6" name="Text 4"/>
          <p:cNvSpPr/>
          <p:nvPr/>
        </p:nvSpPr>
        <p:spPr>
          <a:xfrm>
            <a:off x="1444752" y="180136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错误接入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44752" y="2167128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SDK / Logback Appender / HTTP 零侵入上报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9" name="Shape 7"/>
          <p:cNvSpPr/>
          <p:nvPr/>
        </p:nvSpPr>
        <p:spPr>
          <a:xfrm>
            <a:off x="6428232" y="189280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7132320" y="1801368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智能去重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132320" y="2167128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堆栈指纹归一化 + Redis 冷却窗口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" y="2679192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13" name="Shape 11"/>
          <p:cNvSpPr/>
          <p:nvPr/>
        </p:nvSpPr>
        <p:spPr>
          <a:xfrm>
            <a:off x="740664" y="2880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sp>
        <p:nvSpPr>
          <p:cNvPr id="14" name="Text 12"/>
          <p:cNvSpPr/>
          <p:nvPr/>
        </p:nvSpPr>
        <p:spPr>
          <a:xfrm>
            <a:off x="1444752" y="2788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根因分析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44752" y="315468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GLM-5.2 生成结构化报告，失败降级兜底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2679192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17" name="Shape 15"/>
          <p:cNvSpPr/>
          <p:nvPr/>
        </p:nvSpPr>
        <p:spPr>
          <a:xfrm>
            <a:off x="6428232" y="28803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sp>
        <p:nvSpPr>
          <p:cNvPr id="18" name="Text 16"/>
          <p:cNvSpPr/>
          <p:nvPr/>
        </p:nvSpPr>
        <p:spPr>
          <a:xfrm>
            <a:off x="7132320" y="2788920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协作通知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32320" y="3154680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飞书/钉钉按服务 + 渠道路由推送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6072" y="3666744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21" name="Shape 19"/>
          <p:cNvSpPr/>
          <p:nvPr/>
        </p:nvSpPr>
        <p:spPr>
          <a:xfrm>
            <a:off x="740664" y="38679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sp>
        <p:nvSpPr>
          <p:cNvPr id="22" name="Text 20"/>
          <p:cNvSpPr/>
          <p:nvPr/>
        </p:nvSpPr>
        <p:spPr>
          <a:xfrm>
            <a:off x="1444752" y="377647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工单闭环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44752" y="4142232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内置工单全生命周期，不依赖 Jira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666744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25" name="Shape 23"/>
          <p:cNvSpPr/>
          <p:nvPr/>
        </p:nvSpPr>
        <p:spPr>
          <a:xfrm>
            <a:off x="6428232" y="386791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sp>
        <p:nvSpPr>
          <p:cNvPr id="26" name="Text 24"/>
          <p:cNvSpPr/>
          <p:nvPr/>
        </p:nvSpPr>
        <p:spPr>
          <a:xfrm>
            <a:off x="7132320" y="3776472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管理控制台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32320" y="4142232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React 可视化，10 个页面统一管理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" y="465429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29" name="Shape 27"/>
          <p:cNvSpPr/>
          <p:nvPr/>
        </p:nvSpPr>
        <p:spPr>
          <a:xfrm>
            <a:off x="740664" y="48554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sp>
        <p:nvSpPr>
          <p:cNvPr id="30" name="Text 28"/>
          <p:cNvSpPr/>
          <p:nvPr/>
        </p:nvSpPr>
        <p:spPr>
          <a:xfrm>
            <a:off x="1444752" y="476402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动态配置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44752" y="5129784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 &gt; yaml &gt; 默认值，前端热更新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63640" y="4654296"/>
            <a:ext cx="5349240" cy="868680"/>
          </a:xfrm>
          <a:prstGeom prst="roundRect">
            <a:avLst>
              <a:gd name="adj" fmla="val 10526"/>
            </a:avLst>
          </a:prstGeom>
          <a:solidFill>
            <a:srgbClr val="F1F5F9"/>
          </a:solidFill>
        </p:spPr>
      </p:sp>
      <p:sp>
        <p:nvSpPr>
          <p:cNvPr id="33" name="Shape 31"/>
          <p:cNvSpPr/>
          <p:nvPr/>
        </p:nvSpPr>
        <p:spPr>
          <a:xfrm>
            <a:off x="6428232" y="485546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sp>
        <p:nvSpPr>
          <p:cNvPr id="34" name="Text 32"/>
          <p:cNvSpPr/>
          <p:nvPr/>
        </p:nvSpPr>
        <p:spPr>
          <a:xfrm>
            <a:off x="7132320" y="4764024"/>
            <a:ext cx="42976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敏感脱敏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132320" y="5129784"/>
            <a:ext cx="42976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双层脱敏，上报 Token 仅展示一次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15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关键技术亮点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从“难题”到“突破”：六个工程化创新点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" y="1645920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5" name="Shape 3"/>
          <p:cNvSpPr/>
          <p:nvPr/>
        </p:nvSpPr>
        <p:spPr>
          <a:xfrm>
            <a:off x="777240" y="18470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59E0B"/>
          </a:solidFill>
        </p:spPr>
      </p:sp>
      <p:pic>
        <p:nvPicPr>
          <p:cNvPr id="6" name="Image 0" descr="C:\Users\admin\Desktop\研发一部-姚泽楷-参赛作品\PPT\resources\icons\fingerpri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94767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53312" y="1810512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堆栈指纹归一化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108960" y="18653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108960" y="1865376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B4530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核心算法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" y="2395728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同错误堆栈行号/变量随机，文本比对无法归并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去噪声→SHA-256 稳定指纹，自动聚合、收敛告警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352544" y="1645920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13" name="Shape 10"/>
          <p:cNvSpPr/>
          <p:nvPr/>
        </p:nvSpPr>
        <p:spPr>
          <a:xfrm>
            <a:off x="4553712" y="18470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pic>
        <p:nvPicPr>
          <p:cNvPr id="14" name="Image 1" descr="C:\Users\admin\Desktop\研发一部-姚泽楷-参赛作品\PPT\resources\icons\rob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947672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29784" y="1810512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三级缓存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885432" y="18653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885432" y="1865376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省成本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4553712" y="2395728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LLM 慢、贵、偶发格式错误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53712" y="2926080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DB→yaml→默认三级缓存，命中跳调用 + 失败降级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129016" y="1645920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21" name="Shape 17"/>
          <p:cNvSpPr/>
          <p:nvPr/>
        </p:nvSpPr>
        <p:spPr>
          <a:xfrm>
            <a:off x="8330184" y="1847088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pic>
        <p:nvPicPr>
          <p:cNvPr id="22" name="Image 2" descr="C:\Users\admin\Desktop\研发一部-姚泽楷-参赛作品\PPT\resources\icons\datab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1947672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906256" y="1810512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 冷却去重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10661904" y="1865376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10661904" y="1865376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防风暴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8330184" y="2395728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突发错误瞬间触发海量通知与工单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8330184" y="2926080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同指纹冷却窗只触发一次，限流去重合一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76072" y="3694176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29" name="Shape 24"/>
          <p:cNvSpPr/>
          <p:nvPr/>
        </p:nvSpPr>
        <p:spPr>
          <a:xfrm>
            <a:off x="777240" y="389534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pic>
        <p:nvPicPr>
          <p:cNvPr id="30" name="Image 3" descr="C:\Users\admin\Desktop\研发一部-姚泽楷-参赛作品\PPT\resources\icons\thunder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995928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53312" y="385876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异步解耦流水线</a:t>
            </a:r>
            <a:endParaRPr lang="en-US" sz="1400" dirty="0"/>
          </a:p>
        </p:txBody>
      </p:sp>
      <p:sp>
        <p:nvSpPr>
          <p:cNvPr id="32" name="Shape 26"/>
          <p:cNvSpPr/>
          <p:nvPr/>
        </p:nvSpPr>
        <p:spPr>
          <a:xfrm>
            <a:off x="3108960" y="391363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108960" y="3913632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性能·一致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777240" y="4443984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同步分析阻塞业务、易读脏数据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777240" y="4974336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事务后触发，分析→建单→通知并行，零阻塞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4352544" y="3694176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37" name="Shape 31"/>
          <p:cNvSpPr/>
          <p:nvPr/>
        </p:nvSpPr>
        <p:spPr>
          <a:xfrm>
            <a:off x="4553712" y="389534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D4ED8"/>
          </a:solidFill>
        </p:spPr>
      </p:sp>
      <p:pic>
        <p:nvPicPr>
          <p:cNvPr id="38" name="Image 4" descr="C:\Users\admin\Desktop\研发一部-姚泽楷-参赛作品\PPT\resources\icons\safe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3995928"/>
            <a:ext cx="274320" cy="27432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5129784" y="385876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全链路故障降级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6885432" y="391363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885432" y="3913632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高可用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553712" y="4443984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Redis/LLM/Jira 任一故障拖垮链路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4553712" y="4974336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每组件独立兜底，主链路永不中断</a:t>
            </a:r>
            <a:endParaRPr lang="en-US" sz="1000" dirty="0"/>
          </a:p>
        </p:txBody>
      </p:sp>
      <p:sp>
        <p:nvSpPr>
          <p:cNvPr id="44" name="Shape 37"/>
          <p:cNvSpPr/>
          <p:nvPr/>
        </p:nvSpPr>
        <p:spPr>
          <a:xfrm>
            <a:off x="8129016" y="3694176"/>
            <a:ext cx="3611880" cy="1883664"/>
          </a:xfrm>
          <a:prstGeom prst="roundRect">
            <a:avLst>
              <a:gd name="adj" fmla="val 5825"/>
            </a:avLst>
          </a:prstGeom>
          <a:solidFill>
            <a:srgbClr val="F1F5F9"/>
          </a:solidFill>
        </p:spPr>
      </p:sp>
      <p:sp>
        <p:nvSpPr>
          <p:cNvPr id="45" name="Shape 38"/>
          <p:cNvSpPr/>
          <p:nvPr/>
        </p:nvSpPr>
        <p:spPr>
          <a:xfrm>
            <a:off x="8330184" y="3895344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</p:spPr>
      </p:sp>
      <p:pic>
        <p:nvPicPr>
          <p:cNvPr id="46" name="Image 5" descr="C:\Users\admin\Desktop\研发一部-姚泽楷-参赛作品\PPT\resources\icons\eye-invisib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0768" y="3995928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8906256" y="3858768"/>
            <a:ext cx="2331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双层敏感脱敏</a:t>
            </a:r>
            <a:endParaRPr lang="en-US" sz="1400" dirty="0"/>
          </a:p>
        </p:txBody>
      </p:sp>
      <p:sp>
        <p:nvSpPr>
          <p:cNvPr id="48" name="Shape 40"/>
          <p:cNvSpPr/>
          <p:nvPr/>
        </p:nvSpPr>
        <p:spPr>
          <a:xfrm>
            <a:off x="10661904" y="3913632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661904" y="3913632"/>
            <a:ext cx="9144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安全合规</a:t>
            </a:r>
            <a:endParaRPr lang="en-US" sz="900" dirty="0"/>
          </a:p>
        </p:txBody>
      </p:sp>
      <p:sp>
        <p:nvSpPr>
          <p:cNvPr id="50" name="Text 42"/>
          <p:cNvSpPr/>
          <p:nvPr/>
        </p:nvSpPr>
        <p:spPr>
          <a:xfrm>
            <a:off x="8330184" y="4443984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B91C1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难题　</a:t>
            </a:r>
            <a:r>
              <a:rPr lang="en-US" sz="10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堆栈含 Token/密码/手机号，存储即泄露</a:t>
            </a:r>
            <a:endParaRPr lang="en-US" sz="1000" dirty="0"/>
          </a:p>
        </p:txBody>
      </p:sp>
      <p:sp>
        <p:nvSpPr>
          <p:cNvPr id="51" name="Text 43"/>
          <p:cNvSpPr/>
          <p:nvPr/>
        </p:nvSpPr>
        <p:spPr>
          <a:xfrm>
            <a:off x="8330184" y="4974336"/>
            <a:ext cx="3218688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0EA5E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突破　</a:t>
            </a:r>
            <a:r>
              <a:rPr lang="en-US" sz="1000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上报 + 存储双层脱敏，Token 仅展示一次</a:t>
            </a:r>
            <a:endParaRPr lang="en-US" sz="1000" dirty="0"/>
          </a:p>
        </p:txBody>
      </p:sp>
      <p:sp>
        <p:nvSpPr>
          <p:cNvPr id="52" name="Text 44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53" name="Text 45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15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大模型与 7×24 Agent 落地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AI 如何构建 AI：本作品由 AI Agent 自主开发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6072" y="1737360"/>
            <a:ext cx="4023360" cy="3840480"/>
          </a:xfrm>
          <a:prstGeom prst="roundRect">
            <a:avLst>
              <a:gd name="adj" fmla="val 4762"/>
            </a:avLst>
          </a:prstGeom>
          <a:solidFill>
            <a:srgbClr val="1D4ED8"/>
          </a:solidFill>
        </p:spPr>
      </p:sp>
      <p:sp>
        <p:nvSpPr>
          <p:cNvPr id="5" name="Shape 3"/>
          <p:cNvSpPr/>
          <p:nvPr/>
        </p:nvSpPr>
        <p:spPr>
          <a:xfrm>
            <a:off x="3291840" y="1463040"/>
            <a:ext cx="1463040" cy="146304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6" name="Text 4"/>
          <p:cNvSpPr/>
          <p:nvPr/>
        </p:nvSpPr>
        <p:spPr>
          <a:xfrm>
            <a:off x="576072" y="2194560"/>
            <a:ext cx="402336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100%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576072" y="3886200"/>
            <a:ext cx="40233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代码 AI 生成率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480560"/>
            <a:ext cx="356616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前后端业务代码与全套配套文档，均由 AI Agent 产出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8288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0" name="Text 8"/>
          <p:cNvSpPr/>
          <p:nvPr/>
        </p:nvSpPr>
        <p:spPr>
          <a:xfrm>
            <a:off x="5394960" y="1828800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调度方式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94960" y="2212848"/>
            <a:ext cx="6217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任务驱动 + 子任务编排，按依赖串行 / 并发执行；长任务转后台，完成自动回调。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37760" y="31089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3" name="Text 11"/>
          <p:cNvSpPr/>
          <p:nvPr/>
        </p:nvSpPr>
        <p:spPr>
          <a:xfrm>
            <a:off x="5394960" y="3108960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自主任务范围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394960" y="3493008"/>
            <a:ext cx="6217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后端主服务全模块、aiea-sdk、前端 10 页面、数据库脚本、文档、单元测试。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937760" y="438912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1D4ED8"/>
          </a:solidFill>
        </p:spPr>
      </p:sp>
      <p:sp>
        <p:nvSpPr>
          <p:cNvPr id="16" name="Text 14"/>
          <p:cNvSpPr/>
          <p:nvPr/>
        </p:nvSpPr>
        <p:spPr>
          <a:xfrm>
            <a:off x="5394960" y="4389120"/>
            <a:ext cx="6126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落地效果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394960" y="4773168"/>
            <a:ext cx="6217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人 1 周完成端到端 MVP，含降级兜底与脱敏安全，质量可交付。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15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演示效果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全局统计概览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 AI 根因分析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操作时间线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62102" y="5074920"/>
            <a:ext cx="11036808" cy="777240"/>
          </a:xfrm>
          <a:prstGeom prst="roundRect">
            <a:avLst>
              <a:gd name="adj" fmla="val 11765"/>
            </a:avLst>
          </a:prstGeom>
          <a:solidFill>
            <a:srgbClr val="EAF1FE"/>
          </a:solidFill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说明：此为</a:t>
            </a:r>
            <a:r>
              <a:rPr lang="en-US" altLang="zh-CN" sz="1300" dirty="0"/>
              <a:t>SDK</a:t>
            </a:r>
            <a:r>
              <a:rPr lang="zh-CN" altLang="en-US" sz="1300" dirty="0"/>
              <a:t>接入业务系统，步骤为依赖、配置、初始化、和服务注册以及通知</a:t>
            </a:r>
            <a:r>
              <a:rPr lang="zh-CN" altLang="en-US" sz="1300" dirty="0"/>
              <a:t>路由；</a:t>
            </a:r>
            <a:endParaRPr lang="zh-CN" alt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11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" y="1783080"/>
            <a:ext cx="3199130" cy="294449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985" y="1783080"/>
            <a:ext cx="3230245" cy="294449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145" y="1783080"/>
            <a:ext cx="3239770" cy="29438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演示效果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全局统计概览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 AI 根因分析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操作时间线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" y="5074920"/>
            <a:ext cx="11036808" cy="777240"/>
          </a:xfrm>
          <a:prstGeom prst="roundRect">
            <a:avLst>
              <a:gd name="adj" fmla="val 11765"/>
            </a:avLst>
          </a:prstGeom>
          <a:solidFill>
            <a:srgbClr val="EAF1FE"/>
          </a:solidFill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说明：项目的仪表盘统计和错误聚合（该错误复发次数统计以及通知次数</a:t>
            </a:r>
            <a:r>
              <a:rPr lang="zh-CN" altLang="en-US" sz="1300" dirty="0"/>
              <a:t>统计）；</a:t>
            </a:r>
            <a:endParaRPr lang="zh-CN" alt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1100" dirty="0"/>
          </a:p>
        </p:txBody>
      </p:sp>
      <p:pic>
        <p:nvPicPr>
          <p:cNvPr id="14" name="图片 13" descr="仪表盘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285" y="1742440"/>
            <a:ext cx="3248660" cy="2985135"/>
          </a:xfrm>
          <a:prstGeom prst="rect">
            <a:avLst/>
          </a:prstGeom>
        </p:spPr>
      </p:pic>
      <p:pic>
        <p:nvPicPr>
          <p:cNvPr id="15" name="图片 14" descr="仪表盘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95" y="1702435"/>
            <a:ext cx="3331210" cy="3046095"/>
          </a:xfrm>
          <a:prstGeom prst="rect">
            <a:avLst/>
          </a:prstGeom>
        </p:spPr>
      </p:pic>
      <p:pic>
        <p:nvPicPr>
          <p:cNvPr id="17" name="图片 16" descr="错误聚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145" y="1783080"/>
            <a:ext cx="3210560" cy="293814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演示效果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运行截图占位（请替换为真实界面截图）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全局统计概览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 AI 根因分析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操作时间线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" y="5074920"/>
            <a:ext cx="11036808" cy="777240"/>
          </a:xfrm>
          <a:prstGeom prst="roundRect">
            <a:avLst>
              <a:gd name="adj" fmla="val 11765"/>
            </a:avLst>
          </a:prstGeom>
          <a:solidFill>
            <a:srgbClr val="EAF1FE"/>
          </a:solidFill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说明：告警抑制规则（配置同一个错误的告警冷却，避免轰炸）；服务注册支持多服务注册，通知路由</a:t>
            </a:r>
            <a:r>
              <a:rPr lang="zh-CN" altLang="en-US" sz="1300" dirty="0"/>
              <a:t>则支持将不同项目路由至不同</a:t>
            </a:r>
            <a:r>
              <a:rPr lang="zh-CN" altLang="en-US" sz="1300" dirty="0"/>
              <a:t>群聊；</a:t>
            </a:r>
            <a:endParaRPr lang="zh-CN" alt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1100" dirty="0"/>
          </a:p>
        </p:txBody>
      </p:sp>
      <p:pic>
        <p:nvPicPr>
          <p:cNvPr id="14" name="图片 13" descr="告警规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25" y="1783080"/>
            <a:ext cx="3317240" cy="2971800"/>
          </a:xfrm>
          <a:prstGeom prst="rect">
            <a:avLst/>
          </a:prstGeom>
        </p:spPr>
      </p:pic>
      <p:pic>
        <p:nvPicPr>
          <p:cNvPr id="15" name="图片 14" descr="服务注册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985" y="1783080"/>
            <a:ext cx="3252470" cy="2971800"/>
          </a:xfrm>
          <a:prstGeom prst="rect">
            <a:avLst/>
          </a:prstGeom>
        </p:spPr>
      </p:pic>
      <p:pic>
        <p:nvPicPr>
          <p:cNvPr id="16" name="图片 15" descr="通知路由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145" y="1783080"/>
            <a:ext cx="3234055" cy="297116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110642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演示效果</a:t>
            </a:r>
            <a:r>
              <a:rPr lang="en-US" sz="1200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运行截图占位（请替换为真实界面截图）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76072" y="1371600"/>
            <a:ext cx="11036808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75895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仪表盘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全局统计概览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32511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错误详情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含 AI 根因分析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solidFill>
            <a:srgbClr val="F8FAFC"/>
          </a:solidFill>
          <a:ln w="22225">
            <a:solidFill>
              <a:srgbClr val="94A3B8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891272" y="1783080"/>
            <a:ext cx="324612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【截图占位】
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工单详情</a:t>
            </a:r>
            <a:endParaRPr lang="en-US" sz="15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操作时间线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6072" y="5074920"/>
            <a:ext cx="11036808" cy="777240"/>
          </a:xfrm>
          <a:prstGeom prst="roundRect">
            <a:avLst>
              <a:gd name="adj" fmla="val 11765"/>
            </a:avLst>
          </a:prstGeom>
          <a:solidFill>
            <a:srgbClr val="EAF1FE"/>
          </a:solidFill>
        </p:spPr>
      </p:sp>
      <p:sp>
        <p:nvSpPr>
          <p:cNvPr id="11" name="Text 9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300" dirty="0"/>
              <a:t>说明：对于发生的错误自动形成工单，工单详情中可分析出错误信息的修改提示词，发生的错误根据通知路由转发到对应</a:t>
            </a:r>
            <a:r>
              <a:rPr lang="zh-CN" altLang="en-US" sz="1300" dirty="0"/>
              <a:t>群聊；</a:t>
            </a:r>
            <a:endParaRPr lang="zh-CN" alt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" y="6272784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错误根因分析平台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0" y="6272784"/>
            <a:ext cx="15544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4A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15</a:t>
            </a:r>
            <a:endParaRPr lang="en-US" sz="1100" dirty="0"/>
          </a:p>
        </p:txBody>
      </p:sp>
      <p:pic>
        <p:nvPicPr>
          <p:cNvPr id="14" name="图片 13" descr="工单管理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825" y="1783080"/>
            <a:ext cx="3245485" cy="2972435"/>
          </a:xfrm>
          <a:prstGeom prst="rect">
            <a:avLst/>
          </a:prstGeom>
        </p:spPr>
      </p:pic>
      <p:pic>
        <p:nvPicPr>
          <p:cNvPr id="15" name="图片 14" descr="工单详情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985" y="1783080"/>
            <a:ext cx="3245485" cy="2972435"/>
          </a:xfrm>
          <a:prstGeom prst="rect">
            <a:avLst/>
          </a:prstGeom>
        </p:spPr>
      </p:pic>
      <p:pic>
        <p:nvPicPr>
          <p:cNvPr id="16" name="图片 15" descr="飞书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1145" y="1783080"/>
            <a:ext cx="3216275" cy="300037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4754880"/>
            <a:ext cx="3108960" cy="3108960"/>
          </a:xfrm>
          <a:prstGeom prst="ellipse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60120" y="173736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kern="0" spc="400" dirty="0">
                <a:solidFill>
                  <a:srgbClr val="FFFFFF">
                    <a:alpha val="9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37744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让异常处理，从人工翻日志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10515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59E0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走向 AI 自动化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987552" y="4297680"/>
            <a:ext cx="1143000" cy="64008"/>
          </a:xfrm>
          <a:prstGeom prst="rect">
            <a:avLst/>
          </a:prstGeom>
          <a:solidFill>
            <a:srgbClr val="F59E0B"/>
          </a:solidFill>
        </p:spPr>
      </p:sp>
      <p:sp>
        <p:nvSpPr>
          <p:cNvPr id="8" name="Text 6"/>
          <p:cNvSpPr/>
          <p:nvPr/>
        </p:nvSpPr>
        <p:spPr>
          <a:xfrm>
            <a:off x="960120" y="466344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AIEA · AI 错误根因分析与工单自动化平台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5212080"/>
            <a:ext cx="10515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参赛人：研发一部 · 姚泽楷</a:t>
            </a:r>
            <a:r>
              <a:rPr lang="en-US" sz="14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      </a:t>
            </a:r>
            <a:endParaRPr lang="en-US" sz="14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2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3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4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5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6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7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8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9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0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1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2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3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4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ags/tag15.xml><?xml version="1.0" encoding="utf-8"?>
<p:tagLst xmlns:p="http://schemas.openxmlformats.org/presentationml/2006/main">
  <p:tag name="KSO_WM_DIAGRAM_VIRTUALLY_FRAME" val="{&quot;height&quot;:306.71999999999997,&quot;left&quot;:349.2,&quot;top&quot;:140.4,&quot;width&quot;:568.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3024</Words>
  <Application>WPS 演示</Application>
  <PresentationFormat>On-screen Show (16:9)</PresentationFormat>
  <Paragraphs>425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AIEA 参赛作品 — 成果展示</dc:title>
  <dc:creator>研发一部 · 姚泽楷</dc:creator>
  <dc:subject>PptxGenJS Presentation</dc:subject>
  <cp:lastModifiedBy>　</cp:lastModifiedBy>
  <cp:revision>5</cp:revision>
  <dcterms:created xsi:type="dcterms:W3CDTF">2026-08-07T07:04:00Z</dcterms:created>
  <dcterms:modified xsi:type="dcterms:W3CDTF">2026-08-07T07:53:25Z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485877D0F0E446E5A20BD7C6BA6BD778_12</vt:lpwstr>
  </property>
</Properties>
</file>